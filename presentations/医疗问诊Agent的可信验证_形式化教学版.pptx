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第1页｜建议用时0.5分钟｜累计0.5分钟</a:t>
            </a:r>
          </a:p>
          <a:p/>
          <a:p>
            <a:r>
              <a:t>开场不从工具列表讲起，先提出一个问题：一个系统会回答医疗问题，是否就能安全完成问诊？本课以医疗问诊为场景，讨论可被清晰建模的协议与行为约束。我们不证明大模型的所有医学判断正确，也不展示尚未实现的自有项目。学生应能够区分测试、契约检查与形式化保证，理解验证对象及其环境假设。</a:t>
            </a:r>
          </a:p>
          <a:p/>
          <a:p>
            <a:r>
              <a:t>参考与证据边界：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第2页｜建议用时0.5分钟｜累计1分钟</a:t>
            </a:r>
          </a:p>
          <a:p/>
          <a:p>
            <a:r>
              <a:t>用半分钟交代路线。前半段用一个转接失败案例建立概念，中段讲状态机、LTL和时间约束，后半段将离线模型与执行网关连接，再用真实项目讨论证据强度。请学生记住，验证结论总要包含对象、性质和假设。讲授时间30分钟包括两次课堂互动；完整引用在每页备注与配套参考文献中。</a:t>
            </a:r>
          </a:p>
          <a:p/>
          <a:p>
            <a:r>
              <a:t>参考与证据边界：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第3页｜建议用时4分钟｜累计5分钟</a:t>
            </a:r>
          </a:p>
          <a:p/>
          <a:p>
            <a:r>
              <a:t>先只展示事件过程，不要求学生诊断疾病。风险事件已经由上游建立，这个前提会在后面被明确写成假设。给学生45秒思考，问：大模型这句话听起来是否合理？系统日志能不能支持它？工具超时只说明没有确认，不能证明人已接收任务，更不能证明临床问题解决。再追问：如果工具一直不可用，系统应当怎么办？答案需要预先定义回退流程、责任归属与继续保留的义务。用剩余时间将三个词写在板上：requested、acknowledged、resolved。确认不是天然等于临床解决，任务的完成条件须由服务与临床专家定义。这条区分是本课贯穿的安全属性，不代表已经设计好了真实临床转接服务。</a:t>
            </a:r>
          </a:p>
          <a:p/>
          <a:p>
            <a:r>
              <a:t>参考与证据边界：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第4页｜建议用时1.5分钟｜累计6.5分钟</a:t>
            </a:r>
          </a:p>
          <a:p/>
          <a:p>
            <a:r>
              <a:t>本页连接用户提供的医学材料，控制在一分半钟。《图像处理在医学中的应用》中的轮廓提取、配准和功能测量说明误差可以沿处理链传播。《罗烨个人介绍》第2、17、24页将问题概括为多模态对齐、分布偏移和可解释性，第8页的新生儿任务需结合影像与临床信息。这里只使用概念和任务背景，不将旧课件设备指标外推为当代医学事实。说明一个重要限制：控制器看到的urgent标记如果本身漏识，形式化协议可能正确执行了错误状态。后续必须单独评估状态提取与临床风险识别。</a:t>
            </a:r>
          </a:p>
          <a:p/>
          <a:p>
            <a:r>
              <a:t>参考与证据边界：</a:t>
            </a:r>
          </a:p>
          <a:p>
            <a:r>
              <a:t>[A] 用户附件《第十章 图像处理在医学中的应用》：左心室轮廓、配准、功能评价；作为基础案例，不外推旧设备性能。</a:t>
            </a:r>
          </a:p>
          <a:p>
            <a:r>
              <a:t>[B] 用户附件《罗烨个人介绍 20260106》：第2、8、17、24页。多模态对齐、分布偏移、解释与新生儿临床信息。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第5页｜建议用时2分钟｜累计8.5分钟</a:t>
            </a:r>
          </a:p>
          <a:p/>
          <a:p>
            <a:r>
              <a:t>解释Agent的最小系统构成。语言模型提供候选动作，控制器维护与约束协议，执行层取得反馈。模型可以替换，但权限和任务完成条件不能由模型随意更改。本课优先验证控制器与明确工具接口，而不是宣称获得整个语言模型的正确性证明。自然语言解析、状态抽取、外部事件与工具返回构成接口假设。若实现能绕过控制器调用工具，已验证控制器就不能保障真实行为。因此验证边界还必须对应实际的唯一执行入口。请学生观察图中的反馈箭头，它说明动作结果需要更新状态；没有它，系统无法区分请求和确认。</a:t>
            </a:r>
          </a:p>
          <a:p/>
          <a:p>
            <a:r>
              <a:t>参考与证据边界：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第6页｜建议用时2分钟｜累计10.5分钟</a:t>
            </a:r>
          </a:p>
          <a:p/>
          <a:p>
            <a:r>
              <a:t>这里将环境假设表达为环境模型E_A，与系统M组合后检查规约。这是教学用记法，不是直接提交给某个模型检查器的统一语法。假设可以通过约束环境迁移、加入公平性条件或接口契约来表达。示例对象是有限控制流程，性质是权限和结束条件。对于活性要求，还要说明任务调度公平性，不能无条件假定外部转接永远成功。对于unknown状态，协议应明确定义澄清或人工处理，不能默认当作安全。进一步提示：保证系统实现I满足规约，还需要证明或检查I与M之间的对应；本页只先建立模型层主张。请学生用一句话区分保证与假设。</a:t>
            </a:r>
          </a:p>
          <a:p/>
          <a:p>
            <a:r>
              <a:t>参考与证据边界：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第7页｜建议用时2.5分钟｜累计13分钟</a:t>
            </a:r>
          </a:p>
          <a:p/>
          <a:p>
            <a:r>
              <a:t>用图展示建模，而不是仅列定义。从采集进入风险待处理后，pending标记持续存在，发请求不会清除。确认转接必须关联当前任务和状态版本，旧任务确认不能完成新任务。安全回退是协议规定的动作集合，不是任意一句建议；实际处置由专家决定。本图的确认转接表示某类任务的交接成功，不自动表示患者恢复。常规结束不画成从请求中可达的边，这避免将无反馈看成成功。可问学生：如果取消了失败分支，会发生什么？可能出现死锁或无限等待；若失败后误清标记，则出现不安全结束。状态机虽然很小，也必须包括与性质相关的非确定外部行为。</a:t>
            </a:r>
          </a:p>
          <a:p/>
          <a:p>
            <a:r>
              <a:t>参考与证据边界：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第8页｜建议用时2.5分钟｜累计15.5分钟</a:t>
            </a:r>
          </a:p>
          <a:p/>
          <a:p>
            <a:r>
              <a:t>用两分钟解释安全性和活性。第一条G表示所有时刻都成立，授权要对当前用途、对象与状态有效。第二条阻止常规结束，不阻止紧急升级；这是在课堂上避免把必要信息完整性变成紧急行动前提的重要区别。第三条F要求必要处理最终发生。resolved需定义为当前任务满足经过批准的转接或回退结果，不能把发出请求当完成。无限等待是活性违例，但有限日志中一直没完成往往只能给出待定。只有截止时间到达等额外机制，才能将特定要求变成有限观察可判定的违例。工具调度和时间推进条件应显式建模。所有公式是教学示例，不代表已经通过SPIN检查。</a:t>
            </a:r>
          </a:p>
          <a:p/>
          <a:p>
            <a:r>
              <a:t>参考与证据边界：</a:t>
            </a:r>
          </a:p>
          <a:p>
            <a:r>
              <a:t>[1] Holzmann, G. J. The Model Checker SPIN. IEEE TSE 23(5), 279–295, 1997.</a:t>
            </a:r>
          </a:p>
          <a:p>
            <a:r>
              <a:t>https://doi.org/10.1109/32.588521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第9页｜建议用时2分钟｜累计17.5分钟</a:t>
            </a:r>
          </a:p>
          <a:p/>
          <a:p>
            <a:r>
              <a:t>先承接LTL的最终：我们有时关心多久。时间自动机用真实值时钟和位置不变式表示等待。进入时将x清零，确认在期限内允许成功分支，未确认达到期限进入回退。T是协议参数，不能随意给患者处置设秒数；紧急提示也不应等待这个计时器才提供。讲清一个形式化建模陷阱：若有x≤T不变式却没有可用迁移，模型可能在T处死锁；这样不能把时间停住当成安全。UPPAAL中可检查无死锁和相关可达性质；其查询语言不等于任意LTL。若确认和超时在同一边界发生，要定义优先级或验证两种结果。</a:t>
            </a:r>
          </a:p>
          <a:p/>
          <a:p>
            <a:r>
              <a:t>参考与证据边界：</a:t>
            </a:r>
          </a:p>
          <a:p>
            <a:r>
              <a:t>[2] Alur, R.; Dill, D. L. A theory of timed automata. TCS 126(2), 183–235, 1994.</a:t>
            </a:r>
          </a:p>
          <a:p>
            <a:r>
              <a:t>https://doi.org/10.1016/0304-3975(94)90010-8</a:t>
            </a:r>
          </a:p>
          <a:p>
            <a:r>
              <a:t>[3] Behrmann, G.; David, A.; Larsen, K. G. A Tutorial on Uppaal. 2004. 工具资料：uppaal.org。</a:t>
            </a:r>
          </a:p>
          <a:p>
            <a:r>
              <a:t>https://uppaal.org/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第10页｜建议用时2分钟｜累计19.5分钟</a:t>
            </a:r>
          </a:p>
          <a:p/>
          <a:p>
            <a:r>
              <a:t>解释模型检查器做的是对建模行为的系统探索；不是遍历所有自然语言可能性。反例示意显示风险待处理后发请求，接口失败却错误清标记，因而常规结束可达。这里是教学构造反例，没有伪装成软件执行输出。若用过近似抽象包括真实行为，安全性质通过可以更保守；但抽象反例可能是真实无法发生的伪反例，需要回放和精化。不要因此删除不方便的外部故障。进一步引出实现：模型清楚定义了规则，代码却可能漏掉守卫或某条API绕过它，所以还需要实现对应检查与运行时保障。这也是科研实验中反例重放的重要意义。</a:t>
            </a:r>
          </a:p>
          <a:p/>
          <a:p>
            <a:r>
              <a:t>参考与证据边界：</a:t>
            </a:r>
          </a:p>
          <a:p>
            <a:r>
              <a:t>[1] Holzmann, G. J. The Model Checker SPIN. IEEE TSE 23(5), 279–295, 1997.</a:t>
            </a:r>
          </a:p>
          <a:p>
            <a:r>
              <a:t>https://doi.org/10.1109/32.588521</a:t>
            </a:r>
          </a:p>
          <a:p>
            <a:r>
              <a:t>[3] Behrmann, G.; David, A.; Larsen, K. G. A Tutorial on Uppaal. 2004. 工具资料：uppaal.org。</a:t>
            </a:r>
          </a:p>
          <a:p>
            <a:r>
              <a:t>https://uppaal.org/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第11页｜建议用时2分钟｜累计21.5分钟</a:t>
            </a:r>
          </a:p>
          <a:p/>
          <a:p>
            <a:r>
              <a:t>以信息披露为例，数据发送后日志才报警已经无法撤回披露，因此授权检查应在发送之前。运行时检查需区分策略满足、违反和事实不足的待定状态；具体待定处置由协议定义。提醒学生：若模型可以自行填一个consent=true，布尔检查没有意义，授权事实必须来自可信记录。版本检查防止在状态已变化时执行旧动作。VeriGuard是一个通用实例：生成策略代码，测试、使用Nagini/Viper做形式化验证，再在执行前调用策略。策略代码的证明不自动证明自然语言规约正确，也不证明输入状态可信，必须审查这些映射。这里讨论的是方法与架构，未运行VeriGuard。</a:t>
            </a:r>
          </a:p>
          <a:p/>
          <a:p>
            <a:r>
              <a:t>参考与证据边界：</a:t>
            </a:r>
          </a:p>
          <a:p>
            <a:r>
              <a:t>[4] VeriGuard: Enhancing LLM Agent Safety via Verified Code Generation. arXiv:2510.05156. 本课作为通用Agent策略验证方法，非医疗问诊部署。</a:t>
            </a:r>
          </a:p>
          <a:p>
            <a:r>
              <a:t>https://arxiv.org/abs/2510.05156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第12页｜建议用时2.5分钟｜累计24分钟</a:t>
            </a:r>
          </a:p>
          <a:p/>
          <a:p>
            <a:r>
              <a:t>本页用证据类型而不是宣传名称组织研究。GCAC是医疗照护契约原型，18条轨迹测试而非模型检测。SDC–MCP是不执行设备动作的边界原型，不能把dry-run成功理解为真实控制安全。VeriGuard是通用策略代码的程序验证，可用于方法参照，但不能宣称已经完成临床问诊验证。AgentClinic和MedAgentBench提供模拟临床交互或虚拟EHR环境，是实验设计依据。最新的2026工作均按预印本标记；这些研究的同行评审与临床证据成熟度不同。当前检索不是穷尽全球文献，因此不用“全世界没有”的结论。用户提供的ELSA论文研究智能合约神经符号漏洞分析，可作补充阅读，语义执行和一致性机制不应当等同于形式化证明。</a:t>
            </a:r>
          </a:p>
          <a:p/>
          <a:p>
            <a:r>
              <a:t>参考与证据边界：</a:t>
            </a:r>
          </a:p>
          <a:p>
            <a:r>
              <a:t>[4] VeriGuard: Enhancing LLM Agent Safety via Verified Code Generation. arXiv:2510.05156. 本课作为通用Agent策略验证方法，非医疗问诊部署。</a:t>
            </a:r>
          </a:p>
          <a:p>
            <a:r>
              <a:t>https://arxiv.org/abs/2510.05156</a:t>
            </a:r>
          </a:p>
          <a:p>
            <a:r>
              <a:t>[5] Governed AI-Agent Coordination for Dementia Care: Architecture, Safety Contracts, and Evidence-Derived Workflow Verification. arXiv:2609.25956, v2 (2026-10-07). 18条轨迹；确定性Python框架、模拟工具，非临床试验。</a:t>
            </a:r>
          </a:p>
          <a:p>
            <a:r>
              <a:t>https://arxiv.org/abs/2609.25956</a:t>
            </a:r>
          </a:p>
          <a:p>
            <a:r>
              <a:t>[6] A Safety-Bounded SDC-to-MCP Gateway for Medical AI Agents. arXiv:2609.31358. 只读与dry-run原型；无医疗设备写操作。</a:t>
            </a:r>
          </a:p>
          <a:p>
            <a:r>
              <a:t>https://arxiv.org/abs/2609.31358</a:t>
            </a:r>
          </a:p>
          <a:p>
            <a:r>
              <a:t>[7] AgentClinic: a multimodal agent benchmark to evaluate AI in simulated clinical environments. arXiv:2405.07960. 交互评测，不提供全路径形式化保证。</a:t>
            </a:r>
          </a:p>
          <a:p>
            <a:r>
              <a:t>https://arxiv.org/abs/2405.07960</a:t>
            </a:r>
          </a:p>
          <a:p>
            <a:r>
              <a:t>[8] MedAgentBench: A Virtual EHR Environment to Benchmark Medical LLM Agents. NEJM AI, 2025. 公开实现：stanfordmlgroup/MedAgentBench。</a:t>
            </a:r>
          </a:p>
          <a:p>
            <a:r>
              <a:t>https://arxiv.org/abs/2501.14654</a:t>
            </a:r>
          </a:p>
          <a:p>
            <a:r>
              <a:t>[9] Wang et al. Augmenting Multi-technique Static Analysis with Large Language Models: A Neuro-symbolic Approach to Smart Contract Vulnerability Detection. PACMSE/ISSTA, 2026. DOI:10.1145/3832222。附件全文已核对；不是医疗Agent验证项目。</a:t>
            </a:r>
          </a:p>
          <a:p>
            <a:r>
              <a:t>https://doi.org/10.1145/3832222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第13页｜建议用时3分钟｜累计27分钟</a:t>
            </a:r>
          </a:p>
          <a:p/>
          <a:p>
            <a:r>
              <a:t>本页讲三分钟，是课程的真实项目案例。设备没有记录服药，不等于有证据确认漏服，系统必须保存来源、质量、时间与未解决状态。GCAC将解释和规划与确定性权限分离，执行后跟踪确认和责任转移。参考实现是确定性Python测试框架；工具可以模拟成功、不可用、缺少确认或回退成功。候选解释是受控的，论文不比较真实商业LLM语言能力。完整框架通过18条契约轨迹；事件阈值与无状态规划器两个最小对照分别2/18、1/18，不应外推为所有规则系统或LLM的能力。这里不画夸大的优越性柱图。18条测试覆盖授权变化、旧状态、重复事件、不可信输入等，但有限测试不能证明覆盖所有现实变化。给学生30秒提问：一个框架通过全部自建测试，下一步应补什么证据？答案包括独立事件、随机事件排序、故障注入、影子运行、临床与可用性验证。</a:t>
            </a:r>
          </a:p>
          <a:p/>
          <a:p>
            <a:r>
              <a:t>参考与证据边界：</a:t>
            </a:r>
          </a:p>
          <a:p>
            <a:r>
              <a:t>[5] Governed AI-Agent Coordination for Dementia Care: Architecture, Safety Contracts, and Evidence-Derived Workflow Verification. arXiv:2609.25956, v2 (2026-10-07). 18条轨迹；确定性Python框架、模拟工具，非临床试验。</a:t>
            </a:r>
          </a:p>
          <a:p>
            <a:r>
              <a:t>https://arxiv.org/abs/2609.25956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第14页｜建议用时2分钟｜累计29分钟</a:t>
            </a:r>
          </a:p>
          <a:p/>
          <a:p>
            <a:r>
              <a:t>目前用户没有独立Agent项目，这里明确提出研究方案，不放虚构结果。先和专家定义少量明确规则，再建立最小模型和唯一执行网关。对照C是必要的，它帮助区分只是增加规则与经过验证的协议本身带来的收益。D还需检查代码实现和模型的对应，不能只给同一套人工规则换名字。增加语义复核、时限和状态版本的消融。实验同时包含高风险与非高风险病例，才能看到漏升级与过度升级。固定模型版本、工具、预算与病例；改写病例不跨开发和测试集，重复运行的置信区间以病例作为相关单位。反例应检查是否真实可达与是否可重放。结尾提问：把所有病例都转人工是否最好？引出任务完成、误升级和工作负担。</a:t>
            </a:r>
          </a:p>
          <a:p/>
          <a:p>
            <a:r>
              <a:t>参考与证据边界：</a:t>
            </a:r>
          </a:p>
          <a:p>
            <a:r>
              <a:t>[7] AgentClinic: a multimodal agent benchmark to evaluate AI in simulated clinical environments. arXiv:2405.07960. 交互评测，不提供全路径形式化保证。</a:t>
            </a:r>
          </a:p>
          <a:p>
            <a:r>
              <a:t>https://arxiv.org/abs/2405.07960</a:t>
            </a:r>
          </a:p>
          <a:p>
            <a:r>
              <a:t>[8] MedAgentBench: A Virtual EHR Environment to Benchmark Medical LLM Agents. NEJM AI, 2025. 公开实现：stanfordmlgroup/MedAgentBench。</a:t>
            </a:r>
          </a:p>
          <a:p>
            <a:r>
              <a:t>https://arxiv.org/abs/2501.14654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第15页｜建议用时1分钟｜累计30分钟</a:t>
            </a:r>
          </a:p>
          <a:p/>
          <a:p>
            <a:r>
              <a:t>用一分钟收束。第一，医学评测、形式化验证与运行时保障各自负责不同对象。第二，安全性、活性和时间约束要求不同的建模与观察。第三，真实项目已经提供契约原型、执行网关和评测环境，但其证据范围有限。医疗问诊的可信不是一个全能证明，而是多层证据链。研究工作从小而明确的场景开始，选少量安全规约，验证协议，实现网关，回放反例，再开展独立评测。最后可留课后问题：如果状态识别会错，协议正确还能保证什么？完整文献链接在备注与配套参考说明中。</a:t>
            </a:r>
          </a:p>
          <a:p/>
          <a:p>
            <a:r>
              <a:t>参考与证据边界：</a:t>
            </a:r>
          </a:p>
          <a:p>
            <a:r>
              <a:t>[A] 用户附件《第十章 图像处理在医学中的应用》：左心室轮廓、配准、功能评价；作为基础案例，不外推旧设备性能。</a:t>
            </a:r>
          </a:p>
          <a:p>
            <a:r>
              <a:t>[B] 用户附件《罗烨个人介绍 20260106》：第2、8、17、24页。多模态对齐、分布偏移、解释与新生儿临床信息。</a:t>
            </a:r>
          </a:p>
          <a:p>
            <a:r>
              <a:t>[1] Holzmann, G. J. The Model Checker SPIN. IEEE TSE 23(5), 279–295, 1997.</a:t>
            </a:r>
          </a:p>
          <a:p>
            <a:r>
              <a:t>https://doi.org/10.1109/32.588521</a:t>
            </a:r>
          </a:p>
          <a:p>
            <a:r>
              <a:t>[2] Alur, R.; Dill, D. L. A theory of timed automata. TCS 126(2), 183–235, 1994.</a:t>
            </a:r>
          </a:p>
          <a:p>
            <a:r>
              <a:t>https://doi.org/10.1016/0304-3975(94)90010-8</a:t>
            </a:r>
          </a:p>
          <a:p>
            <a:r>
              <a:t>[3] Behrmann, G.; David, A.; Larsen, K. G. A Tutorial on Uppaal. 2004. 工具资料：uppaal.org。</a:t>
            </a:r>
          </a:p>
          <a:p>
            <a:r>
              <a:t>https://uppaal.org/</a:t>
            </a:r>
          </a:p>
          <a:p>
            <a:r>
              <a:t>[4] VeriGuard: Enhancing LLM Agent Safety via Verified Code Generation. arXiv:2510.05156. 本课作为通用Agent策略验证方法，非医疗问诊部署。</a:t>
            </a:r>
          </a:p>
          <a:p>
            <a:r>
              <a:t>https://arxiv.org/abs/2510.05156</a:t>
            </a:r>
          </a:p>
          <a:p>
            <a:r>
              <a:t>[5] Governed AI-Agent Coordination for Dementia Care: Architecture, Safety Contracts, and Evidence-Derived Workflow Verification. arXiv:2609.25956, v2 (2026-10-07). 18条轨迹；确定性Python框架、模拟工具，非临床试验。</a:t>
            </a:r>
          </a:p>
          <a:p>
            <a:r>
              <a:t>https://arxiv.org/abs/2609.25956</a:t>
            </a:r>
          </a:p>
          <a:p>
            <a:r>
              <a:t>[6] A Safety-Bounded SDC-to-MCP Gateway for Medical AI Agents. arXiv:2609.31358. 只读与dry-run原型；无医疗设备写操作。</a:t>
            </a:r>
          </a:p>
          <a:p>
            <a:r>
              <a:t>https://arxiv.org/abs/2609.31358</a:t>
            </a:r>
          </a:p>
          <a:p>
            <a:r>
              <a:t>[7] AgentClinic: a multimodal agent benchmark to evaluate AI in simulated clinical environments. arXiv:2405.07960. 交互评测，不提供全路径形式化保证。</a:t>
            </a:r>
          </a:p>
          <a:p>
            <a:r>
              <a:t>https://arxiv.org/abs/2405.07960</a:t>
            </a:r>
          </a:p>
          <a:p>
            <a:r>
              <a:t>[8] MedAgentBench: A Virtual EHR Environment to Benchmark Medical LLM Agents. NEJM AI, 2025. 公开实现：stanfordmlgroup/MedAgentBench。</a:t>
            </a:r>
          </a:p>
          <a:p>
            <a:r>
              <a:t>https://arxiv.org/abs/2501.14654</a:t>
            </a:r>
          </a:p>
          <a:p>
            <a:r>
              <a:t>[9] Wang et al. Augmenting Multi-technique Static Analysis with Large Language Models: A Neuro-symbolic Approach to Smart Contract Vulnerability Detection. PACMSE/ISSTA, 2026. DOI:10.1145/3832222。附件全文已核对；不是医疗Agent验证项目。</a:t>
            </a:r>
          </a:p>
          <a:p>
            <a:r>
              <a:t>https://doi.org/10.1145/3832222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09/32.588521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0304-3975(94)90010-8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09/32.588521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10.05156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10.05156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9.25956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405.07960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09/32.588521" TargetMode="Externa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76D0CA"/>
                </a:solidFill>
                <a:latin typeface="Noto Sans CJK SC"/>
                <a:ea typeface="Noto Sans CJK SC"/>
              </a:defRPr>
            </a:pPr>
            <a:r>
              <a:t>FORMAL METHODS × MEDICAL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医疗问诊 Agent 的可信验证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AFC1D3"/>
                </a:solidFill>
                <a:latin typeface="Noto Sans CJK SC"/>
                <a:ea typeface="Noto Sans CJK SC"/>
              </a:defRPr>
            </a:pPr>
            <a:r>
              <a:t>从安全规约到运行时保障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9DAFC2"/>
                </a:solidFill>
                <a:latin typeface="Noto Sans CJK SC"/>
                <a:ea typeface="Noto Sans CJK SC"/>
              </a:defRPr>
            </a:pPr>
            <a:r>
              <a:t>形式化方法专题课 · 本科生 · 30分钟｜教学示例不作为诊疗建议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9DAFC2"/>
                </a:solidFill>
                <a:latin typeface="Noto Sans CJK SC"/>
                <a:ea typeface="Noto Sans CJK SC"/>
              </a:defRPr>
            </a:pPr>
            <a:r>
              <a:t>01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30465A"/>
          </a:solidFill>
          <a:ln>
            <a:solidFill>
              <a:srgbClr val="30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240280"/>
            <a:ext cx="7955279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3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让安全要求可表达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3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让执行行为可检查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77639"/>
            <a:ext cx="7406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B7C9D8"/>
                </a:solidFill>
                <a:latin typeface="Noto Sans CJK SC"/>
                <a:ea typeface="Noto Sans CJK SC"/>
              </a:defRPr>
            </a:pPr>
            <a:r>
              <a:t>面向本科生的形式化方法专题课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B7C9D8"/>
                </a:solidFill>
                <a:latin typeface="Noto Sans CJK SC"/>
                <a:ea typeface="Noto Sans CJK SC"/>
              </a:defRPr>
            </a:pPr>
            <a:r>
              <a:t>应用边界：问诊辅助、风险分流与人工转接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66944"/>
            <a:ext cx="3035808" cy="347472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321807"/>
            <a:ext cx="288950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规约 SPECIFY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41648" y="5266944"/>
            <a:ext cx="3035808" cy="347472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5321807"/>
            <a:ext cx="288950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验证 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1775" y="5266944"/>
            <a:ext cx="3035808" cy="347472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7" y="5321807"/>
            <a:ext cx="288950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保障 ENFORCE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45752" y="2240280"/>
            <a:ext cx="1920240" cy="2651760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6064" y="251460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M ⊨ 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3474720"/>
            <a:ext cx="14904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模型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满足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规约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00 / 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今天回答三个问题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一条闭环：问题 → 模型 → 规约 → 反例 → 执行证据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学习目标：说清“验证什么、如何验证、保证到哪里”。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形式化方法专题课 · 本科生 · 30分钟｜教学示例不作为诊疗建议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" y="2121408"/>
            <a:ext cx="3502152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227685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5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926079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验证什么？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575304"/>
            <a:ext cx="313639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把开放式语言行为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分解为可检查的协议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识别输入与环境假设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2121408"/>
            <a:ext cx="3502152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227685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5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926079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如何验证？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575304"/>
            <a:ext cx="313639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状态机与时序性质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模型检测发现反例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运行时检查实际动作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3296" y="2121408"/>
            <a:ext cx="3502152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227685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5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2926079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保证到哪里？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3575304"/>
            <a:ext cx="313639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区分证据强度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审视真实研究原型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设计医疗评测闭环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01 / 贯穿案例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发出转接请求，等于完成转接吗？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教学虚构情境：系统已经建立高风险标记，需要进入规定的升级流程。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错误位于状态与执行之间：request ≠ acknowledgement ≠ resolution。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形式化方法专题课 · 本科生 · 30分钟｜教学示例不作为诊疗建议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" y="2121408"/>
            <a:ext cx="6995160" cy="3374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" y="2386584"/>
            <a:ext cx="1051560" cy="347472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2441448"/>
            <a:ext cx="9052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404872"/>
            <a:ext cx="5047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“我会为您发起人工转接。”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" y="3310128"/>
            <a:ext cx="1051560" cy="347472"/>
          </a:xfrm>
          <a:prstGeom prst="roundRect">
            <a:avLst>
              <a:gd name="adj" fmla="val 12000"/>
            </a:avLst>
          </a:prstGeom>
          <a:solidFill>
            <a:srgbClr val="FAECEF"/>
          </a:solidFill>
          <a:ln>
            <a:solidFill>
              <a:srgbClr val="FA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364992"/>
            <a:ext cx="9052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工具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328416"/>
            <a:ext cx="5047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返回：超时，未收到确认。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4233672"/>
            <a:ext cx="1051560" cy="347472"/>
          </a:xfrm>
          <a:prstGeom prst="roundRect">
            <a:avLst>
              <a:gd name="adj" fmla="val 12000"/>
            </a:avLst>
          </a:prstGeom>
          <a:solidFill>
            <a:srgbClr val="FAECEF"/>
          </a:solidFill>
          <a:ln>
            <a:solidFill>
              <a:srgbClr val="FA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288536"/>
            <a:ext cx="9052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251959"/>
            <a:ext cx="5047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“已联系医生，本次问诊结束。”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7" y="2121408"/>
            <a:ext cx="3703320" cy="3374136"/>
          </a:xfrm>
          <a:prstGeom prst="roundRect">
            <a:avLst>
              <a:gd name="adj" fmla="val 12000"/>
            </a:avLst>
          </a:prstGeom>
          <a:solidFill>
            <a:srgbClr val="FAECEF"/>
          </a:solidFill>
          <a:ln>
            <a:solidFill>
              <a:srgbClr val="FA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7" y="2395728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请找出两个协议错误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727" y="3200400"/>
            <a:ext cx="320040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① 把“请求已发出”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   当成“转接已完成”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② 未处理风险仍存在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   却允许常规结束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01 / 医疗背景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医学证据本身，也有可信边界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从图像处理与多模态诊疗材料中，保留与验证假设直接相关的三个问题。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形式化协议依赖输入；证据错误不能由流程正确性自动消除。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参考：[A] 医学图像教学材料；[B] 罗烨：多模态与泛化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" y="2148840"/>
            <a:ext cx="3502152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230428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5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953512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证据要对应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602736"/>
            <a:ext cx="31363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同一患者与正确时间点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影像、报告、陈述需对齐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2148840"/>
            <a:ext cx="3502152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230428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5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953512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数据会变化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602736"/>
            <a:ext cx="31363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不同医院与设备有域偏移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原有性能不能直接外推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3296" y="2148840"/>
            <a:ext cx="3502152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230428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5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2953512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解释需审查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3602736"/>
            <a:ext cx="31363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关注区域或文字理由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不自动证明医学结论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85816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医学评测负责输入与判断质量；协议验证负责在这些前提下约束行动。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02 / 系统边界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验证对象：把 Agent 拆成可分析的系统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开放式语义与有限协议相连接，避免笼统地“验证整个大模型”。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首选验证对象：状态迁移、动作权限、故障分支与结束条件。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形式化方法专题课 · 本科生 · 30分钟｜教学示例不作为诊疗建议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05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514600"/>
            <a:ext cx="19202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26700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输入与证据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182112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自然语言 / 报告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98648" y="2514600"/>
            <a:ext cx="19202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26700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状态提取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3182112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事实 / 风险 / 来源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38928" y="2514600"/>
            <a:ext cx="19202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26700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动作提议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3182112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LLM 规划候选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9208" y="2514600"/>
            <a:ext cx="1920240" cy="1371600"/>
          </a:xfrm>
          <a:prstGeom prst="roundRect">
            <a:avLst>
              <a:gd name="adj" fmla="val 12000"/>
            </a:avLst>
          </a:prstGeom>
          <a:solidFill>
            <a:srgbClr val="132A43"/>
          </a:solidFill>
          <a:ln>
            <a:solidFill>
              <a:srgbClr val="13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26700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协议控制器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3182112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D5E4EF"/>
                </a:solidFill>
                <a:latin typeface="Noto Sans CJK SC"/>
                <a:ea typeface="Noto Sans CJK SC"/>
              </a:defRPr>
            </a:pPr>
            <a:r>
              <a:t>授权 / 状态 / 时限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19488" y="2514600"/>
            <a:ext cx="19202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6648" y="26700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执行与反馈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3182112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工具返回 / 确认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78608" y="3200400"/>
            <a:ext cx="32004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18888" y="3200400"/>
            <a:ext cx="32004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59168" y="3200400"/>
            <a:ext cx="32004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99448" y="3200400"/>
            <a:ext cx="32004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31520" y="4434840"/>
            <a:ext cx="6172200" cy="694944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61772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1">
                <a:solidFill>
                  <a:srgbClr val="3975CC"/>
                </a:solidFill>
                <a:latin typeface="Noto Sans CJK SC"/>
                <a:ea typeface="Noto Sans CJK SC"/>
              </a:defRPr>
            </a:pPr>
            <a:r>
              <a:t>医学评测：事实提取、风险判断与证据质量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78040" y="4434840"/>
            <a:ext cx="4206240" cy="694944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46177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形式化验证＋运行时检查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579608" y="3931920"/>
            <a:ext cx="0" cy="274320"/>
          </a:xfrm>
          <a:prstGeom prst="line">
            <a:avLst/>
          </a:prstGeom>
          <a:ln w="19050">
            <a:solidFill>
              <a:srgbClr val="58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867912" y="4206240"/>
            <a:ext cx="6711696" cy="0"/>
          </a:xfrm>
          <a:prstGeom prst="line">
            <a:avLst/>
          </a:prstGeom>
          <a:ln w="19050">
            <a:solidFill>
              <a:srgbClr val="58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867912" y="3931920"/>
            <a:ext cx="0" cy="274320"/>
          </a:xfrm>
          <a:prstGeom prst="line">
            <a:avLst/>
          </a:prstGeom>
          <a:ln w="19050">
            <a:solidFill>
              <a:srgbClr val="586B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02 / 保证范围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一个可信主张，必须写出条件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将“系统很安全”改写成可审查、可证伪的条件性主张。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结论要附带模型范围与接口假设；未知状态必须有明确处理。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形式化方法专题课 · 本科生 · 30分钟｜教学示例不作为诊疗建议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06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176272"/>
            <a:ext cx="10890504" cy="1024128"/>
          </a:xfrm>
          <a:prstGeom prst="roundRect">
            <a:avLst>
              <a:gd name="adj" fmla="val 12000"/>
            </a:avLst>
          </a:prstGeom>
          <a:solidFill>
            <a:srgbClr val="132A43"/>
          </a:solidFill>
          <a:ln>
            <a:solidFill>
              <a:srgbClr val="13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441448"/>
            <a:ext cx="10378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系统与满足假设的环境共同满足规约： M ∥ E_A ⊨ 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566160"/>
            <a:ext cx="3429000" cy="1746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73075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对象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297680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有限状态的问诊控制流程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工具接口与故障分支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566160"/>
            <a:ext cx="3429000" cy="1746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73075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性质 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297680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未授权不披露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未处理风险不常规结束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3566160"/>
            <a:ext cx="3429000" cy="1746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73075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假设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297680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风险事件与日志可靠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7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工具语义、调度条件明确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03 / 协议建模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最小状态机：为失败保留一条路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状态：风险待处理、请求中、已转接、安全回退；事件：确认、失败、超时。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risk_pending 只能在完成规定处理后清除；“普通结束”需要独立守卫。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形式化方法专题课 · 本科生 · 30分钟｜教学示例不作为诊疗建议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07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2514600"/>
            <a:ext cx="23774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67004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信息采集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072384"/>
            <a:ext cx="21031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维护事实与缺失项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2514600"/>
            <a:ext cx="23774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40" y="267004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风险待处理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3072384"/>
            <a:ext cx="21031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risk_pending = true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2514600"/>
            <a:ext cx="23774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67004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转接请求中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072384"/>
            <a:ext cx="21031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保留待处理义务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67928" y="4507992"/>
            <a:ext cx="2487168" cy="85953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05088" y="466344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确认转接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5065776"/>
            <a:ext cx="2212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任务交接证据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6632" y="4507992"/>
            <a:ext cx="2487168" cy="859536"/>
          </a:xfrm>
          <a:prstGeom prst="roundRect">
            <a:avLst>
              <a:gd name="adj" fmla="val 12000"/>
            </a:avLst>
          </a:prstGeom>
          <a:solidFill>
            <a:srgbClr val="FAECEF"/>
          </a:solidFill>
          <a:ln>
            <a:solidFill>
              <a:srgbClr val="FA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66344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安全回退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5065776"/>
            <a:ext cx="22128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命名责任与继续义务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108960" y="3054096"/>
            <a:ext cx="73152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136392" y="210312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检测风险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17920" y="3054096"/>
            <a:ext cx="109728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45352" y="210312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发起请求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503920" y="3630168"/>
            <a:ext cx="0" cy="356616"/>
          </a:xfrm>
          <a:prstGeom prst="line">
            <a:avLst/>
          </a:prstGeom>
          <a:ln w="2540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03920" y="3986784"/>
            <a:ext cx="1298448" cy="0"/>
          </a:xfrm>
          <a:prstGeom prst="line">
            <a:avLst/>
          </a:prstGeom>
          <a:ln w="2540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802368" y="3986784"/>
            <a:ext cx="0" cy="521208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290304" y="372160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确认且版本有效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63840" y="3630168"/>
            <a:ext cx="0" cy="484632"/>
          </a:xfrm>
          <a:prstGeom prst="line">
            <a:avLst/>
          </a:prstGeom>
          <a:ln w="25400">
            <a:solidFill>
              <a:srgbClr val="B44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281928" y="4114800"/>
            <a:ext cx="1581912" cy="0"/>
          </a:xfrm>
          <a:prstGeom prst="line">
            <a:avLst/>
          </a:prstGeom>
          <a:ln w="25400">
            <a:solidFill>
              <a:srgbClr val="B44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281928" y="4114800"/>
            <a:ext cx="0" cy="393192"/>
          </a:xfrm>
          <a:prstGeom prst="line">
            <a:avLst/>
          </a:prstGeom>
          <a:ln w="25400">
            <a:solidFill>
              <a:srgbClr val="B44C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166360" y="3675887"/>
            <a:ext cx="2514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失败 / 超时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4425696"/>
            <a:ext cx="344728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553712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3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常规结束守卫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3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¬risk_pending ∧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3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required_complete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03 / 时序规约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LTL：把“不能做”与“必须做”分开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G：始终；F：最终。原子命题来自结构化状态与事件，而非模糊的文本评分。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活性需环境假设；resolved 的定义不能只写“已发出请求”。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586B80"/>
                </a:solidFill>
                <a:hlinkClick r:id="rId2"/>
              </a:rPr>
              <a:t>参考：[1] SPIN / Holzmann, 1997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8368" y="2139696"/>
          <a:ext cx="10881360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5212080"/>
                <a:gridCol w="4160520"/>
              </a:tblGrid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类型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示例规约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解释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安全性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G(disclose → consent_valid)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每次受保护披露都有有效授权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安全性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G(risk_pending → ¬routine_close)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未处理风险阻止常规结束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活性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G(risk_pending → F resolved)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7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最终完成转接或规定回退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804672" y="5285232"/>
            <a:ext cx="10597896" cy="32004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312664"/>
            <a:ext cx="101955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300" b="0">
                <a:solidFill>
                  <a:srgbClr val="3975CC"/>
                </a:solidFill>
                <a:latin typeface="Noto Sans CJK SC"/>
                <a:ea typeface="Noto Sans CJK SC"/>
              </a:defRPr>
            </a:pPr>
            <a:r>
              <a:t>有限前缀可暴露安全违例；仅观察“尚未完成”，通常不能判定无界活性已经违反。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03 / 时间约束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时间自动机：让“最终”具有期限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进入等待状态时 x := 0；期限 T 由经过审查的临床／服务协议确定。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同时检查时间可推进与无死锁，避免靠阻塞时间获得“表面通过”。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586B80"/>
                </a:solidFill>
                <a:hlinkClick r:id="rId2"/>
              </a:rPr>
              <a:t>参考：[2] 时间自动机 / Alur &amp; Dill, 1994；[3] UPPAAL / Behrmann et al., 2004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09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2468880"/>
            <a:ext cx="27889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624328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待转接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136392"/>
            <a:ext cx="251460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时钟 x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位置不变式：x ≤ 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2322576"/>
            <a:ext cx="2670048" cy="1042415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4780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确认交接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80360"/>
            <a:ext cx="239572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接收方确认有效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4288536"/>
            <a:ext cx="2670048" cy="1042415"/>
          </a:xfrm>
          <a:prstGeom prst="roundRect">
            <a:avLst>
              <a:gd name="adj" fmla="val 12000"/>
            </a:avLst>
          </a:prstGeom>
          <a:solidFill>
            <a:srgbClr val="FAECEF"/>
          </a:solidFill>
          <a:ln>
            <a:solidFill>
              <a:srgbClr val="FA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44398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超时回退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46320"/>
            <a:ext cx="2395728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执行规定的故障路径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11880" y="2971800"/>
            <a:ext cx="4571999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87952" y="24231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ack ∧ x ≤ 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11880" y="3538728"/>
            <a:ext cx="2148840" cy="0"/>
          </a:xfrm>
          <a:prstGeom prst="line">
            <a:avLst/>
          </a:prstGeom>
          <a:ln w="25400">
            <a:solidFill>
              <a:srgbClr val="B44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60720" y="3538728"/>
            <a:ext cx="0" cy="1234440"/>
          </a:xfrm>
          <a:prstGeom prst="line">
            <a:avLst/>
          </a:prstGeom>
          <a:ln w="25400">
            <a:solidFill>
              <a:srgbClr val="B44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60720" y="4773168"/>
            <a:ext cx="2423159" cy="0"/>
          </a:xfrm>
          <a:prstGeom prst="line">
            <a:avLst/>
          </a:prstGeom>
          <a:ln w="25400">
            <a:solidFill>
              <a:srgbClr val="B44C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71032" y="4014215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6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x = T ∧ ¬ack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599432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边界语义：同一时刻的确认与超时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需要明确优先级或非确定分支。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04 / 离线验证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模型检测：把担忧变成一条反例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检查模型中所有允许的行为；抽象反例需要回放，必要时精化。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模型层通过 ≠ 实现层通过；真实行为与抽象之间仍需建立对应。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586B80"/>
                </a:solidFill>
                <a:hlinkClick r:id="rId2"/>
              </a:rPr>
              <a:t>参考：[1] SPIN / Holzmann, 1997；[3] UPPAAL / Behrmann et al., 2004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10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" y="2167128"/>
            <a:ext cx="35204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2322576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系统模型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2724912"/>
            <a:ext cx="32461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状态 / 转移 / 故障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2167128"/>
            <a:ext cx="35204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322576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规约 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724912"/>
            <a:ext cx="32461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安全 / 活性 / 时限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08975" y="2167128"/>
            <a:ext cx="35204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46136" y="2322576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检查结果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6136" y="2724912"/>
            <a:ext cx="32461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满足或反例轨迹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15384" y="2761488"/>
            <a:ext cx="36576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72400" y="2761488"/>
            <a:ext cx="36575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1520" y="3703320"/>
            <a:ext cx="10680192" cy="1700784"/>
          </a:xfrm>
          <a:prstGeom prst="roundRect">
            <a:avLst>
              <a:gd name="adj" fmla="val 12000"/>
            </a:avLst>
          </a:prstGeom>
          <a:solidFill>
            <a:srgbClr val="FAECEF"/>
          </a:solidFill>
          <a:ln>
            <a:solidFill>
              <a:srgbClr val="FA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3867912"/>
            <a:ext cx="10222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反例：状态被错误更新，导致未处理风险被关闭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45902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F4DDE3"/>
          </a:solidFill>
          <a:ln>
            <a:solidFill>
              <a:srgbClr val="F4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" y="4645151"/>
            <a:ext cx="16824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发现风险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88920" y="4764024"/>
            <a:ext cx="219456" cy="0"/>
          </a:xfrm>
          <a:prstGeom prst="line">
            <a:avLst/>
          </a:prstGeom>
          <a:ln w="19050">
            <a:solidFill>
              <a:srgbClr val="B44C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008376" y="45902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F4DDE3"/>
          </a:solidFill>
          <a:ln>
            <a:solidFill>
              <a:srgbClr val="F4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4645151"/>
            <a:ext cx="16824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发起请求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37176" y="4764024"/>
            <a:ext cx="219456" cy="0"/>
          </a:xfrm>
          <a:prstGeom prst="line">
            <a:avLst/>
          </a:prstGeom>
          <a:ln w="19050">
            <a:solidFill>
              <a:srgbClr val="B44C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056632" y="45902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F4DDE3"/>
          </a:solidFill>
          <a:ln>
            <a:solidFill>
              <a:srgbClr val="F4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9784" y="4645151"/>
            <a:ext cx="16824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接口失败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85432" y="4764024"/>
            <a:ext cx="219456" cy="0"/>
          </a:xfrm>
          <a:prstGeom prst="line">
            <a:avLst/>
          </a:prstGeom>
          <a:ln w="19050">
            <a:solidFill>
              <a:srgbClr val="B44C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104888" y="45902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F4DDE3"/>
          </a:solidFill>
          <a:ln>
            <a:solidFill>
              <a:srgbClr val="F4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4645151"/>
            <a:ext cx="16824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误清 pending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933688" y="4764024"/>
            <a:ext cx="219456" cy="0"/>
          </a:xfrm>
          <a:prstGeom prst="line">
            <a:avLst/>
          </a:prstGeom>
          <a:ln w="19050">
            <a:solidFill>
              <a:srgbClr val="B44C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153144" y="45902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F4DDE3"/>
          </a:solidFill>
          <a:ln>
            <a:solidFill>
              <a:srgbClr val="F4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26296" y="4645151"/>
            <a:ext cx="16824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常规结束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04 / 在线约束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运行时保障：验证结果必须进入执行链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控制所有受保护动作的入口；状态、授权和反馈必须使用可信数据源。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前置检查阻止违规动作；事后监控记录偏差；两者不能互相替代。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586B80"/>
                </a:solidFill>
                <a:hlinkClick r:id="rId2"/>
              </a:rPr>
              <a:t>参考：[4] VeriGuard,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242316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57860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动作候选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090672"/>
            <a:ext cx="25603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LLM 可以提议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不能自行授予权限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242316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132A43"/>
          </a:solidFill>
          <a:ln>
            <a:solidFill>
              <a:srgbClr val="13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57860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策略网关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090672"/>
            <a:ext cx="25603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D5E4EF"/>
                </a:solidFill>
                <a:latin typeface="Noto Sans CJK SC"/>
                <a:ea typeface="Noto Sans CJK SC"/>
              </a:defRPr>
            </a:pPr>
            <a:r>
              <a:t>校验状态 / 权限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D5E4EF"/>
                </a:solidFill>
                <a:latin typeface="Noto Sans CJK SC"/>
                <a:ea typeface="Noto Sans CJK SC"/>
              </a:defRPr>
            </a:pPr>
            <a:r>
              <a:t>对象 / 版本 / 时限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242316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57860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执行与反馈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090672"/>
            <a:ext cx="25603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唯一受保护入口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确认结果再更新状态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566160" y="3108960"/>
            <a:ext cx="109728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98079" y="3108960"/>
            <a:ext cx="1097281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6384" y="4462272"/>
            <a:ext cx="3090672" cy="822960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590288"/>
            <a:ext cx="685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8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允许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28216" y="4608576"/>
            <a:ext cx="199339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满足策略 → 执行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53712" y="4462272"/>
            <a:ext cx="3090672" cy="822960"/>
          </a:xfrm>
          <a:prstGeom prst="roundRect">
            <a:avLst>
              <a:gd name="adj" fmla="val 12000"/>
            </a:avLst>
          </a:prstGeom>
          <a:solidFill>
            <a:srgbClr val="FAECEF"/>
          </a:solidFill>
          <a:ln>
            <a:solidFill>
              <a:srgbClr val="FA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0016" y="4590288"/>
            <a:ext cx="685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800" b="1">
                <a:solidFill>
                  <a:srgbClr val="B44C59"/>
                </a:solidFill>
                <a:latin typeface="Noto Sans CJK SC"/>
                <a:ea typeface="Noto Sans CJK SC"/>
              </a:defRPr>
            </a:pPr>
            <a:r>
              <a:t>拒绝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5544" y="4608576"/>
            <a:ext cx="199339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违反策略 → 阻止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462272"/>
            <a:ext cx="3090672" cy="82296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4" y="4590288"/>
            <a:ext cx="685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800" b="1">
                <a:solidFill>
                  <a:srgbClr val="3975CC"/>
                </a:solidFill>
                <a:latin typeface="Noto Sans CJK SC"/>
                <a:ea typeface="Noto Sans CJK SC"/>
              </a:defRPr>
            </a:pPr>
            <a:r>
              <a:t>待定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4608576"/>
            <a:ext cx="199339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状态不足 → 澄清 / 人工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05 / 研究现状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已有实践：先辨别证据，再评价“可信”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公开实践已经存在，但不同工作验证的对象与证据强度不同。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测试、契约检查、程序证明与临床验证，不能用同一个“已验证”概括。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586B80"/>
                </a:solidFill>
                <a:hlinkClick r:id="rId2"/>
              </a:rPr>
              <a:t>参考：[4] VeriGuard, 2025；[5] GCAC, 2026 · 预印本；[6] SDC–MCP Gateway, 2026 · 预印本；[7] AgentClinic, 2024–；[8] MedAgentBench,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8368" y="2112264"/>
          <a:ext cx="108813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2560320"/>
                <a:gridCol w="3474720"/>
              </a:tblGrid>
              <a:tr h="52120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工作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验证／评测对象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已有证据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关键边界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GCAC · 2026*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照护协调与结果闭环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18条契约轨迹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模拟工具；非全路径证明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SDC–MCP · 2026*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医疗设备接口执行边界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只读 / dry-run原型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无设备写操作；非临床部署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VeriGuard · 2025*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Agent策略代码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Nagini/Viper验证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通用方法；非问诊系统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AgentClinic · 2024–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临床连续交互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模拟环境实验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经验评测；非形式化证明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MedAgentBench · 2025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虚拟EHR任务执行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300任务 / FHIR环境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任务结果；非全流程保证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68096" y="5504688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* 本页引用预印本；资料核对截至 2026-10-14。医疗问诊全过程的成熟形式化保证，本次检索未确认。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05 / 真实项目案例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GCAC：任务结束必须有结果证据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居家痴呆照护：用药设备“未记录一次服药”，并不等于临床确认漏服。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18/18 说明有限测试套件中的契约一致性；不说明真实患者获益或所有路径安全。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586B80"/>
                </a:solidFill>
                <a:hlinkClick r:id="rId2"/>
              </a:rPr>
              <a:t>参考：[5] GCAC, 2026 · 预印本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13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6656" y="2112264"/>
            <a:ext cx="6373368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2350008"/>
            <a:ext cx="5897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已实现的参考框架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980944"/>
            <a:ext cx="987552" cy="347472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035808"/>
            <a:ext cx="8412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提议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2999232"/>
            <a:ext cx="44622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8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读取有来源、有版本的记忆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776472"/>
            <a:ext cx="987552" cy="347472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3831335"/>
            <a:ext cx="8412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授权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794759"/>
            <a:ext cx="44622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8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确定性策略检查角色与权限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572000"/>
            <a:ext cx="987552" cy="347472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4626864"/>
            <a:ext cx="8412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590288"/>
            <a:ext cx="44622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8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确认、回退与未完成义务追踪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6912" y="2112264"/>
            <a:ext cx="4224528" cy="3438144"/>
          </a:xfrm>
          <a:prstGeom prst="roundRect">
            <a:avLst>
              <a:gd name="adj" fmla="val 12000"/>
            </a:avLst>
          </a:prstGeom>
          <a:solidFill>
            <a:srgbClr val="132A43"/>
          </a:solidFill>
          <a:ln>
            <a:solidFill>
              <a:srgbClr val="13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3500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300" b="0">
                <a:solidFill>
                  <a:srgbClr val="B7C9D8"/>
                </a:solidFill>
                <a:latin typeface="Noto Sans CJK SC"/>
                <a:ea typeface="Noto Sans CJK SC"/>
              </a:defRPr>
            </a:pPr>
            <a:r>
              <a:t>作者报告：需求导出的轨迹测试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916936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42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18 / 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849624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满足契约检查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测试中零违规工具调用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77316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200" b="0">
                <a:solidFill>
                  <a:srgbClr val="B7C9D8"/>
                </a:solidFill>
                <a:latin typeface="Noto Sans CJK SC"/>
                <a:ea typeface="Noto Sans CJK SC"/>
              </a:defRPr>
            </a:pPr>
            <a:r>
              <a:t>确定性 Python 框架＋模拟工具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06 / 可行技术路线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研究闭环：验证正确性，也评估使用代价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拟开展研究；目前没有自有医疗 Agent 实现或实验结果。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E7F3F2"/>
          </a:solidFill>
          <a:ln>
            <a:solidFill>
              <a:srgbClr val="E7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目标：降低违规，同时明确误拦截、过度升级与延迟的代价。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586B80"/>
                </a:solidFill>
                <a:hlinkClick r:id="rId2"/>
              </a:rPr>
              <a:t>参考：[7] AgentClinic, 2024–；[8] MedAgentBench,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14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E2E9F1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8368" y="2093976"/>
          <a:ext cx="661111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587752"/>
                <a:gridCol w="3337560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组别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安全机制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回答的研究问题</a:t>
                      </a:r>
                    </a:p>
                  </a:txBody>
                  <a:tcPr marL="128016" marR="91440" marT="82296" marB="36576">
                    <a:solidFill>
                      <a:srgbClr val="132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基础 Agent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无机制时的失败模式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提示词约束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文本提醒是否有效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C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人工规则网关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增加规则带来的收益</a:t>
                      </a:r>
                    </a:p>
                  </a:txBody>
                  <a:tcPr marL="128016" marR="91440" marT="8229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D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验证协议＋执行监控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32A43"/>
                          </a:solidFill>
                          <a:latin typeface="Noto Sans CJK SC"/>
                        </a:defRPr>
                      </a:pPr>
                      <a:r>
                        <a:t>验证与一致性是否增益</a:t>
                      </a:r>
                    </a:p>
                  </a:txBody>
                  <a:tcPr marL="128016" marR="91440" marT="82296" marB="36576"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543800" y="2093976"/>
            <a:ext cx="3968496" cy="3410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2295144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000" b="1">
                <a:solidFill>
                  <a:srgbClr val="087F8C"/>
                </a:solidFill>
                <a:latin typeface="Noto Sans CJK SC"/>
                <a:ea typeface="Noto Sans CJK SC"/>
              </a:defRPr>
            </a:pPr>
            <a:r>
              <a:t>三组证据一起报告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944368"/>
            <a:ext cx="3547872" cy="2185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安全：漏升级 / 违规轨迹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代价：误拦截 / 延迟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对应：反例回放 / 状态误差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</a:p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固定模型、工具与预算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600" b="0">
                <a:solidFill>
                  <a:srgbClr val="132A43"/>
                </a:solidFill>
                <a:latin typeface="Noto Sans CJK SC"/>
                <a:ea typeface="Noto Sans CJK SC"/>
              </a:defRPr>
            </a:pPr>
            <a:r>
              <a:t>病例分层＋置信区间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221224"/>
            <a:ext cx="6537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300" b="0">
                <a:solidFill>
                  <a:srgbClr val="586B80"/>
                </a:solidFill>
                <a:latin typeface="Noto Sans CJK SC"/>
                <a:ea typeface="Noto Sans CJK SC"/>
              </a:defRPr>
            </a:pPr>
            <a:r>
              <a:t>场景覆盖：证据冲突、权限变化、工具失败、超时、旧状态。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47472"/>
            <a:ext cx="64008" cy="2468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6616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000" b="1">
                <a:solidFill>
                  <a:srgbClr val="76D0CA"/>
                </a:solidFill>
                <a:latin typeface="Noto Sans CJK SC"/>
                <a:ea typeface="Noto Sans CJK SC"/>
              </a:defRPr>
            </a:pPr>
            <a:r>
              <a:t>06 /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可信来自证据链，而非一个分数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AFC1D3"/>
                </a:solidFill>
                <a:latin typeface="Noto Sans CJK SC"/>
                <a:ea typeface="Noto Sans CJK SC"/>
              </a:defRPr>
            </a:pPr>
            <a:r>
              <a:t>明确对象与假设；用规约约束行为；在运行中核对结果。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861304"/>
            <a:ext cx="11045952" cy="448056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952744"/>
            <a:ext cx="10652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下一步：专家共建规约 → 最小原型 → 反例回放 → 独立医疗评测。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10652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800" b="0">
                <a:solidFill>
                  <a:srgbClr val="9DAFC2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9DAFC2"/>
                </a:solidFill>
                <a:hlinkClick r:id="rId2"/>
              </a:rPr>
              <a:t>参考：[1] SPIN / Holzmann, 1997；[3] UPPAAL / Behrmann et al., 2004；[5] GCAC, 2026 · 预印本；[6] SDC–MCP Gateway, 2026 · 预印本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8248" y="6400800"/>
            <a:ext cx="475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800"/>
              </a:spcAft>
              <a:defRPr sz="900" b="0">
                <a:solidFill>
                  <a:srgbClr val="9DAFC2"/>
                </a:solidFill>
                <a:latin typeface="Noto Sans CJK SC"/>
                <a:ea typeface="Noto Sans CJK SC"/>
              </a:defRPr>
            </a:pPr>
            <a:r>
              <a:t>15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806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0138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204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23376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4040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04704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45368" y="6729984"/>
            <a:ext cx="630936" cy="24688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" y="2304288"/>
            <a:ext cx="3593592" cy="2221992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25328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4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医学证据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310128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事实与风险是否可靠？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2304288"/>
            <a:ext cx="3593592" cy="2221992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25328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4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形式化规约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3310128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允许什么，禁止什么？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9327" y="2304288"/>
            <a:ext cx="3593592" cy="2221992"/>
          </a:xfrm>
          <a:prstGeom prst="roundRect">
            <a:avLst>
              <a:gd name="adj" fmla="val 12000"/>
            </a:avLst>
          </a:prstGeom>
          <a:solidFill>
            <a:srgbClr val="203D54"/>
          </a:solidFill>
          <a:ln>
            <a:solidFill>
              <a:srgbClr val="20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25328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400" b="1">
                <a:solidFill>
                  <a:srgbClr val="A5E6DA"/>
                </a:solidFill>
                <a:latin typeface="Noto Sans CJK SC"/>
                <a:ea typeface="Noto Sans CJK SC"/>
              </a:defRPr>
            </a:pPr>
            <a:r>
              <a:t>验证与保障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3310128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模型、实现、执行是否对应？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4956048"/>
            <a:ext cx="1064361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21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我们能验证明确协议中的明确性质；医学理解与真实临床效果仍需独立证据。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