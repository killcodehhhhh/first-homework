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本汇报提出可执行的研究方案，不报告尚未开展的实验结果。研究范围为医疗问诊辅助系统中的信息采集、分诊建议与人工转接，不覆盖自主诊断或处方。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不只是聊天模型。其核心是维护会话状态并循环执行观察、规划、行动与反馈。工具可包括检索、结构化问卷和转接接口。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将系统表示为状态集合、初始状态、迁移关系与原子命题标注构成的 Kripke 结构。M 满足性质 φ 意味着所有所考虑执行路径满足 φ。为保持对安全性质的保证，可采用包含真实行为的过近似抽象；抽象反例可能是伪反例，需要回放和精化。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原子命题来自结构化日志，不能直接由模糊自然语言判定。urgent_pending 是持久待处理标记；handoff_ack 是转接确认事件。完成后清除待处理标记。最终转接依赖服务可用性和公平性假设，不能把失败请求等价于转接完成。缺少关键字段仅禁止常规分诊结论，不应阻塞紧急转接。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检测红旗后进入待转接状态并将时钟 x 置零。约束 x≤T 是位置不变式。转接确认迁移要求 x≤T；超时保护迁移在 x=T 到达升级状态。检查时还要显式考虑服务失败、时间可推进性与无死锁，避免由不变式阻塞时间而使有界属性虚假成立。SPIN 常用于有限状态和 LTL；UPPAAL 使用时间自动机及其支持的查询语言，并非直接支持任意 LTL。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策略网关应置于工具执行与用户可见输出之前。纯粹事后日志监控只能检测已经发生的违规，不能阻止它。Agent 输出为结构化动作候选；网关校验权限、状态和风险属性，违规时拒绝动作并请求澄清或人工介入。生成模型与事实抽取的错误仍须通过临床评测覆盖。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按疾病或场景划分开发集、验证集与测试集，避免同一病例变体跨集合泄漏。固定模型版本、提示、工具和预算。为各方法使用相同病例与随机种子；预先确定场景分层、重复次数与功效分析。至少两位临床专家盲评并报告一致性。未经伦理与隐私审批不使用可识别真实病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报告任何伪造的实验数值。违规率和红旗漏转接率都要明确病例或轨迹级分母，合格病例由独立标注确定。误拦截以全部合法候选动作为分母；误升级以非高风险病例为分母。统计以病例为聚类单位处理重复运行；配对自助法或适当的配对检验须与数据结构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建议汇报收束为三个阶段：1 与临床专家确定规则和威胁模型；2 构建并验证最小有限状态协议及执行网关；3 开展风险分层评测。参考文献如下，链接为供查阅的原始来源。本环境网络阻止了学术站点访问，未完成在线核验；并非完整系统综述。</a:t>
            </a:r>
          </a:p>
          <a:p>
            <a:r>
              <a:t>[1] Singhal K et al. Large language models encode clinical knowledge. Nature 620, 172–180 (2023). https://doi.org/10.1038/s41586-023-06291-2</a:t>
            </a:r>
          </a:p>
          <a:p>
            <a:r>
              <a:t>[2] Tu T et al. Towards Conversational Diagnostic AI. arXiv:2401.05654 (2024). https://arxiv.org/abs/2401.05654</a:t>
            </a:r>
          </a:p>
          <a:p>
            <a:r>
              <a:t>[3] Tang X et al. MedAgents: Large Language Models as Collaborators for Zero-shot Medical Reasoning. arXiv:2311.10537 (2023). https://arxiv.org/abs/2311.10537</a:t>
            </a:r>
          </a:p>
          <a:p>
            <a:r>
              <a:t>[4] Schmidgall S et al. AgentClinic: a multimodal agent benchmark to evaluate AI in simulated clinical environments. arXiv:2405.07960 (2024). https://arxiv.org/abs/2405.07960</a:t>
            </a:r>
          </a:p>
          <a:p>
            <a:r>
              <a:t>[5] Holzmann G J. The Model Checker SPIN. IEEE Transactions on Software Engineering 23(5), 279–295 (1997). https://doi.org/10.1109/32.588521</a:t>
            </a:r>
          </a:p>
          <a:p>
            <a:r>
              <a:t>[6] Alur R, Dill D L. A theory of timed automata. Theoretical Computer Science 126(2), 183–235 (1994). https://doi.org/10.1016/0304-3975(94)90010-8</a:t>
            </a:r>
          </a:p>
          <a:p>
            <a:r>
              <a:t>[7] Behrmann G, David A, Larsen K G. A Tutorial on Uppaal. Formal Methods for the Design of Real-Time Systems, LNCS 3185 (2004). https://uppaal.org/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i.org/10.1038/s41586-023-06291-2" TargetMode="External"/><Relationship Id="rId4" Type="http://schemas.openxmlformats.org/officeDocument/2006/relationships/hyperlink" Target="https://arxiv.org/abs/2401.05654" TargetMode="External"/><Relationship Id="rId5" Type="http://schemas.openxmlformats.org/officeDocument/2006/relationships/hyperlink" Target="https://arxiv.org/abs/2311.10537" TargetMode="External"/><Relationship Id="rId6" Type="http://schemas.openxmlformats.org/officeDocument/2006/relationships/hyperlink" Target="https://arxiv.org/abs/2405.07960" TargetMode="External"/><Relationship Id="rId7" Type="http://schemas.openxmlformats.org/officeDocument/2006/relationships/hyperlink" Target="https://doi.org/10.1109/32.588521" TargetMode="External"/><Relationship Id="rId8" Type="http://schemas.openxmlformats.org/officeDocument/2006/relationships/hyperlink" Target="https://doi.org/10.1016/0304-3975(94)90010-8" TargetMode="External"/><Relationship Id="rId9" Type="http://schemas.openxmlformats.org/officeDocument/2006/relationships/hyperlink" Target="https://uppaal.or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研究生科研汇报｜研究方案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医疗问诊 Agent 的可信验证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9144000" cy="1417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52D49"/>
                </a:solidFill>
                <a:latin typeface="Noto Sans CJK SC"/>
              </a:defRPr>
            </a:pPr>
            <a:r>
              <a:t>从经验评测走向</a:t>
            </a:r>
          </a:p>
          <a:p>
            <a:pPr>
              <a:spcAft>
                <a:spcPts val="800"/>
              </a:spcAft>
              <a:defRPr sz="3500" b="1">
                <a:solidFill>
                  <a:srgbClr val="152D49"/>
                </a:solidFill>
                <a:latin typeface="Noto Sans CJK SC"/>
              </a:defRPr>
            </a:pPr>
            <a:r>
              <a:t>可检查的安全协议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9144000" cy="9144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B6B7E"/>
                </a:solidFill>
                <a:latin typeface="Noto Sans CJK SC"/>
              </a:defRPr>
            </a:pPr>
            <a:r>
              <a:t>研究对象：多轮问诊与分诊辅助 Agent</a:t>
            </a:r>
          </a:p>
          <a:p>
            <a:pPr>
              <a:spcAft>
                <a:spcPts val="800"/>
              </a:spcAft>
              <a:defRPr sz="1900" b="0">
                <a:solidFill>
                  <a:srgbClr val="5B6B7E"/>
                </a:solidFill>
                <a:latin typeface="Noto Sans CJK SC"/>
              </a:defRPr>
            </a:pPr>
            <a:r>
              <a:t>研究目标：安全属性可表达、执行过程可监控、违规轨迹可追溯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54880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55464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087F8C"/>
                </a:solidFill>
                <a:latin typeface="Noto Sans CJK SC"/>
              </a:defRPr>
            </a:pPr>
            <a:r>
              <a:t>临床安全约束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754880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855464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087F8C"/>
                </a:solidFill>
                <a:latin typeface="Noto Sans CJK SC"/>
              </a:defRPr>
            </a:pPr>
            <a:r>
              <a:t>模型检测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754880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855464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087F8C"/>
                </a:solidFill>
                <a:latin typeface="Noto Sans CJK SC"/>
              </a:defRPr>
            </a:pPr>
            <a:r>
              <a:t>运行时保障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研究背景与意义：准确回答 ≠ 安全问诊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研究问题：如何让“不能发生的行为”与“必须完成的动作”成为可验证约束？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参考：[1] Singhal et al., Nature, 2023；[2] AMIE, arXiv:2401.05654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" cy="361188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6232"/>
            <a:ext cx="320040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场景正在变化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3200400" cy="2743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医学问答 → 多轮任务执行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主动追问、检索、调用工具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错误可能沿行动链传播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661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54864" cy="361188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56232"/>
            <a:ext cx="320040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现有评测的局限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50592"/>
            <a:ext cx="3200400" cy="2743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单题正确率难覆盖长轨迹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平均得分掩盖低频高风险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语言流畅不等于安全执行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5661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54864" cy="361188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56232"/>
            <a:ext cx="320040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可信验证的价值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50592"/>
            <a:ext cx="3200400" cy="2743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将临床规则转成显式约束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发现协议中的反例路径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为审计提供可重放证据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什么是医疗问诊 Agent？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研究边界：辅助信息采集、风险分诊与人工转接；不承担独立诊断或处方。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37033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54864" cy="3520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3375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3337560" cy="2651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以大模型为推理核心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维护患者与会话状态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按目标选择追问或工具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根据反馈调整下一步行动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78308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1929384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推理与规划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532888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追问策略 / 下一步行动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929384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状态与记忆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532888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症状 / 时间 / 风险标记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61188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2" y="3758184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工具与证据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4361688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医学检索 / 信息抽取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61188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758184"/>
            <a:ext cx="28803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治理与监督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361688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策略检查 / 人工转接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工作流程：安全检查嵌入每轮行动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高风险分支优先触发升级处理；安全策略必须约束执行层。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204825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1865376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用户输入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1865376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B6B7E"/>
                </a:solidFill>
                <a:latin typeface="Noto Sans CJK SC"/>
              </a:defRPr>
            </a:pPr>
            <a:r>
              <a:t>症状与基本信息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2616" y="2761488"/>
            <a:ext cx="246887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16936" y="2148840"/>
            <a:ext cx="204825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313432"/>
            <a:ext cx="1865376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状态更新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862072"/>
            <a:ext cx="1865376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B6B7E"/>
                </a:solidFill>
                <a:latin typeface="Noto Sans CJK SC"/>
              </a:defRPr>
            </a:pPr>
            <a:r>
              <a:t>提取事实与缺失项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65192" y="2761488"/>
            <a:ext cx="246887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39512" y="2148840"/>
            <a:ext cx="204825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2313432"/>
            <a:ext cx="1865376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计划生成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862072"/>
            <a:ext cx="1865376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B6B7E"/>
                </a:solidFill>
                <a:latin typeface="Noto Sans CJK SC"/>
              </a:defRPr>
            </a:pPr>
            <a:r>
              <a:t>追问 / 检索 / 分诊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87768" y="2761488"/>
            <a:ext cx="246888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62088" y="2148840"/>
            <a:ext cx="204825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7" y="2313432"/>
            <a:ext cx="1865376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策略检查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862072"/>
            <a:ext cx="1865376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B6B7E"/>
                </a:solidFill>
                <a:latin typeface="Noto Sans CJK SC"/>
              </a:defRPr>
            </a:pPr>
            <a:r>
              <a:t>风险规则与工具权限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10344" y="2761488"/>
            <a:ext cx="246888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84664" y="2148840"/>
            <a:ext cx="204825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76104" y="2313432"/>
            <a:ext cx="1865376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执行与反馈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862072"/>
            <a:ext cx="1865376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B6B7E"/>
                </a:solidFill>
                <a:latin typeface="Noto Sans CJK SC"/>
              </a:defRPr>
            </a:pPr>
            <a:r>
              <a:t>工具调用或回复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98480" y="3474720"/>
            <a:ext cx="0" cy="502919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611880" y="3977639"/>
            <a:ext cx="7086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11880" y="3474720"/>
            <a:ext cx="0" cy="502919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17720" y="4096512"/>
            <a:ext cx="530352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B6B7E"/>
                </a:solidFill>
                <a:latin typeface="Noto Sans CJK SC"/>
              </a:defRPr>
            </a:pPr>
            <a:r>
              <a:t>循环：观测 → 计划 → 执行 → 更新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4663440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FAEDEE"/>
          </a:solidFill>
          <a:ln>
            <a:solidFill>
              <a:srgbClr val="FA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828032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454D"/>
                </a:solidFill>
                <a:latin typeface="Noto Sans CJK SC"/>
              </a:defRPr>
            </a:pPr>
            <a:r>
              <a:t>发现红旗症状 → 转接 / 应急指引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95360" y="3474720"/>
            <a:ext cx="0" cy="1161288"/>
          </a:xfrm>
          <a:prstGeom prst="line">
            <a:avLst/>
          </a:prstGeom>
          <a:ln w="25400">
            <a:solidFill>
              <a:srgbClr val="B445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安全问题：从内容错误到协议失效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威胁模型同时考虑模型失误、恶意输入、外部证据污染与工具故障。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830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429768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风险类别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具体失效场景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拟验证的约束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医学与分诊风险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漏识红旗症状；过度确定的诊断表达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触发升级；限制建议范围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交互与状态风险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重复询问；重要信息被遗忘；提前结束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关键字段检查；终止条件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提示注入与工具风险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检索文本诱导越权调用或绕过策略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工具白名单；授权先于调用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隐私与审计风险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未经许可披露信息；关键行动无记录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最小权限；输出脱敏；审计事件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882896"/>
            <a:ext cx="10698480" cy="5486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B6B7E"/>
                </a:solidFill>
                <a:latin typeface="Noto Sans CJK SC"/>
              </a:defRPr>
            </a:pPr>
            <a:r>
              <a:t>风险级别、红旗症状定义与升级时限，应由临床专家共同确定。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什么是可信验证？用多层证据支撑可信主张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形式化保证只在模型、假设与观测范围内成立；不能证明所有医学回答都正确。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092708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237744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临床有效性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38528"/>
            <a:ext cx="7863840" cy="5486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D49"/>
                </a:solidFill>
                <a:latin typeface="Noto Sans CJK SC"/>
              </a:defRPr>
            </a:pPr>
            <a:r>
              <a:t>病例评测 + 专家审查：医学质量与风险分级是否合理？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1092708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237744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协议正确性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63240"/>
            <a:ext cx="7863840" cy="5486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D49"/>
                </a:solidFill>
                <a:latin typeface="Noto Sans CJK SC"/>
              </a:defRPr>
            </a:pPr>
            <a:r>
              <a:t>形式化规约 + 模型检测：所有建模路径是否满足安全属性？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86784"/>
            <a:ext cx="1092708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237744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执行一致性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187952"/>
            <a:ext cx="7863840" cy="5486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D49"/>
                </a:solidFill>
                <a:latin typeface="Noto Sans CJK SC"/>
              </a:defRPr>
            </a:pPr>
            <a:r>
              <a:t>运行时监控 + 审计日志：实际事件是否偏离经过验证的协议？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相关研究：评测能力与协议保证之间存在缺口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研究切入点：临床规则 → 时序属性 → 可执行监控 → 轨迹级评价。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参考：[1] Nature 2023；[2] AMIE；[3] MedAgents；[4] AgentClinic；[5–7] 形式化方法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830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931920"/>
                <a:gridCol w="498348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研究方向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代表工作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已有证据 / 尚待解决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医学语言模型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Singhal et al. [1]；AMIE [2]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医学问答与对话评测 / 不能替代协议证明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医疗 Agent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MedAgents [3]；AgentClinic [4]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协作推理与交互环境 / 需显式安全规约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形式化验证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SPIN [5]；时间自动机 [6]；UPPAAL [7]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支持系统属性验证 / 医疗语义抽象仍困难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4526280"/>
            <a:ext cx="10698480" cy="7040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81728"/>
            <a:ext cx="1033272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087F8C"/>
                </a:solidFill>
                <a:latin typeface="Noto Sans CJK SC"/>
              </a:defRPr>
            </a:pPr>
            <a:r>
              <a:t>文献范围：代表性基础工作（2023–2024 年医疗研究），并非 2026 年系统性综述。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形式化验证的基本原理：系统模型 + 性质规约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验证对象是“被抽象的交互协议”；抽象是否保守、状态映射是否可靠，必须单独检验。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34747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54864" cy="347472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1089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模型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3108960" cy="2606039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状态：信息 / 风险 / 权限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转移：追问 / 调用 / 转接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边界：故障与非确定选择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4747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54864" cy="347472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47672"/>
            <a:ext cx="31089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规约 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42032"/>
            <a:ext cx="3108960" cy="2606039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安全性：坏事永不发生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活性：必要动作最终完成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时限：关键动作及时完成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83080"/>
            <a:ext cx="34747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783080"/>
            <a:ext cx="54864" cy="347472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947672"/>
            <a:ext cx="31089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检查 M ⊨ 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542032"/>
            <a:ext cx="3108960" cy="2606039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穷举建模的可达行为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满足：给出模型内保证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失败：输出可分析反例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LTL：把多轮问诊约束写成时序性质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G：始终；F：最终；X：下一步。普通 LTL 不直接表达真实时间的数值界限。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参考：[5] SPIN；示例为拟采用的协议规约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55648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20624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目标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 LTL 属性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语义与建模要求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隐私保护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G(disclose → consent)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任何披露前均已有有效授权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防止过早结束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G(routine_close → required_complete)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常规结束前完成必要信息采集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高风险升级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G(urgent_pending → F handoff_ack)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待处理风险最终获得转接确认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工具调用授权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G(tool_call → allowed)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每次调用都通过权限检查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608576"/>
            <a:ext cx="10698480" cy="7315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B6B7E"/>
                </a:solidFill>
                <a:latin typeface="Noto Sans CJK SC"/>
              </a:defRPr>
            </a:pPr>
            <a:r>
              <a:t>活性属性需要明确外部服务与公平性假设；日志中应区分“发起转接”与“转接成功”。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时间自动机与模型检测：检查有时限的升级流程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T 是协议参数，须经专家确定；工具中的时间界限不等同于已获得临床依据。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参考：[6] Alur &amp; Dill, 1994；[7] UPPAAL；图为拟议模型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2788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60604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采集信息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260604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B6B7E"/>
                </a:solidFill>
                <a:latin typeface="Noto Sans CJK SC"/>
              </a:defRPr>
            </a:pPr>
            <a:r>
              <a:t>等待风险事件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103120"/>
            <a:ext cx="2788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249424"/>
            <a:ext cx="260604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待转接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61488"/>
            <a:ext cx="260604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B6B7E"/>
                </a:solidFill>
                <a:latin typeface="Noto Sans CJK SC"/>
              </a:defRPr>
            </a:pPr>
            <a:r>
              <a:t>时钟 x；不变式 x ≤ 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2788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49424"/>
            <a:ext cx="260604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已转接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61488"/>
            <a:ext cx="260604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B6B7E"/>
                </a:solidFill>
                <a:latin typeface="Noto Sans CJK SC"/>
              </a:defRPr>
            </a:pPr>
            <a:r>
              <a:t>收到确认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40" y="2651760"/>
            <a:ext cx="59436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03720" y="2651760"/>
            <a:ext cx="123444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54680" y="1700784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B7E"/>
                </a:solidFill>
                <a:latin typeface="Noto Sans CJK SC"/>
              </a:defRPr>
            </a:pPr>
            <a:r>
              <a:t>红旗 / x :=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700784"/>
            <a:ext cx="237744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B7E"/>
                </a:solidFill>
                <a:latin typeface="Noto Sans CJK SC"/>
              </a:defRPr>
            </a:pPr>
            <a:r>
              <a:t>确认且 x ≤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251960"/>
            <a:ext cx="2788920" cy="758952"/>
          </a:xfrm>
          <a:prstGeom prst="roundRect">
            <a:avLst>
              <a:gd name="adj" fmla="val 12000"/>
            </a:avLst>
          </a:prstGeom>
          <a:solidFill>
            <a:srgbClr val="FAEDEE"/>
          </a:solidFill>
          <a:ln>
            <a:solidFill>
              <a:srgbClr val="FA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4416552"/>
            <a:ext cx="251460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4454D"/>
                </a:solidFill>
                <a:latin typeface="Noto Sans CJK SC"/>
              </a:defRPr>
            </a:pPr>
            <a:r>
              <a:t>超时 → 升级处理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13832" y="3246120"/>
            <a:ext cx="0" cy="1005840"/>
          </a:xfrm>
          <a:prstGeom prst="line">
            <a:avLst/>
          </a:prstGeom>
          <a:ln w="25400">
            <a:solidFill>
              <a:srgbClr val="B445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0" y="3566160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4454D"/>
                </a:solidFill>
                <a:latin typeface="Noto Sans CJK SC"/>
              </a:defRPr>
            </a:pPr>
            <a:r>
              <a:t>x = T / 故障分支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794760"/>
            <a:ext cx="3291840" cy="12801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检查重点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无死锁、超时可达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失败后的安全降级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技术路线：离线验证 + 在线约束 + 反例回放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先验证有限状态协议，再把同一规约映射到运行时；未知状态采用保守回退。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65376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规则共建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59152"/>
            <a:ext cx="3108960" cy="6400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临床指南与专家</a:t>
            </a:r>
          </a:p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明确边界与假设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865376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离线建模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59152"/>
            <a:ext cx="3108960" cy="6400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协议抽象 + 规约</a:t>
            </a:r>
          </a:p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SPIN / UPPAAL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65376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反例精化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59152"/>
            <a:ext cx="3108960" cy="6400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回放失败轨迹</a:t>
            </a:r>
          </a:p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修正规约与抽象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2377440"/>
            <a:ext cx="228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2377440"/>
            <a:ext cx="228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794760"/>
            <a:ext cx="3474720" cy="777240"/>
          </a:xfrm>
          <a:prstGeom prst="roundRect">
            <a:avLst>
              <a:gd name="adj" fmla="val 12000"/>
            </a:avLst>
          </a:prstGeom>
          <a:solidFill>
            <a:srgbClr val="152D49"/>
          </a:solidFill>
          <a:ln>
            <a:solidFill>
              <a:srgbClr val="15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995928"/>
            <a:ext cx="329184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Agent 动作候选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94760"/>
            <a:ext cx="3474720" cy="777240"/>
          </a:xfrm>
          <a:prstGeom prst="roundRect">
            <a:avLst>
              <a:gd name="adj" fmla="val 12000"/>
            </a:avLst>
          </a:prstGeom>
          <a:solidFill>
            <a:srgbClr val="152D49"/>
          </a:solidFill>
          <a:ln>
            <a:solidFill>
              <a:srgbClr val="15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95928"/>
            <a:ext cx="329184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策略网关 / 监控器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94760"/>
            <a:ext cx="3474720" cy="777240"/>
          </a:xfrm>
          <a:prstGeom prst="roundRect">
            <a:avLst>
              <a:gd name="adj" fmla="val 12000"/>
            </a:avLst>
          </a:prstGeom>
          <a:solidFill>
            <a:srgbClr val="152D49"/>
          </a:solidFill>
          <a:ln>
            <a:solidFill>
              <a:srgbClr val="15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995928"/>
            <a:ext cx="3291840" cy="41148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工具执行 / 用户输出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4187952"/>
            <a:ext cx="228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18120" y="4187952"/>
            <a:ext cx="228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3136392"/>
            <a:ext cx="0" cy="64008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4974336"/>
            <a:ext cx="10698480" cy="5486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B6B7E"/>
                </a:solidFill>
                <a:latin typeface="Noto Sans CJK SC"/>
              </a:defRPr>
            </a:pPr>
            <a:r>
              <a:t>全过程：结构化事件 → 状态映射 → 违规拦截 → 人工回退 → 可重放审计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实验设计：对照、消融与风险场景覆盖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拟开展实验：使用合成或去标识化病例；临床专家独立标注安全规则与预期路径。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参考：[4] AgentClinic；实验数量与效果均未开展、未报告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474720" cy="3602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4864" cy="360273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01952"/>
            <a:ext cx="31089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场景矩阵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3108960" cy="2734056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常规咨询与信息缺失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红旗症状与矛盾叙述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提示注入与证据污染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工具失败与转接超时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474720" cy="3602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54864" cy="360273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01952"/>
            <a:ext cx="31089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对照组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96312"/>
            <a:ext cx="3108960" cy="2734056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A：基础 Agent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B：提示词安全约束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C：规则网关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D：形式化协议 + 监控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474720" cy="3602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737360"/>
            <a:ext cx="54864" cy="3602736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901952"/>
            <a:ext cx="3108960" cy="45720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消融与控制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496312"/>
            <a:ext cx="3108960" cy="2734056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移除时间约束 / 状态记忆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相同模型、工具与预算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独立测试集，多次运行</a:t>
            </a:r>
          </a:p>
          <a:p>
            <a:pPr>
              <a:spcAft>
                <a:spcPts val="800"/>
              </a:spcAft>
              <a:defRPr sz="1700" b="0">
                <a:solidFill>
                  <a:srgbClr val="152D49"/>
                </a:solidFill>
                <a:latin typeface="Noto Sans CJK SC"/>
              </a:defRPr>
            </a:pPr>
            <a:r>
              <a:t>配对比较与置信区间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评价指标：安全收益必须与任务代价一起报告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先预注册高风险主指标；按场景报告结果与 95% 置信区间，避免只看总体均值。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3736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983480"/>
                <a:gridCol w="3931920"/>
              </a:tblGrid>
              <a:tr h="54863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维度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指标与定义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评估证据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安全性（主指标）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红旗漏转接率；存在违规的轨迹占比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专家金标准 + 事件日志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时效性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超过 T 的高风险病例占比；P95 转接延迟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风险触发与确认时间戳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可用性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误拦截率；误升级率；任务完成率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合法动作集与场景标签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医学质量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专家评分；证据支持度；不确定性表达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盲评 + 评分一致性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验证与开销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状态数；验证耗时；监控增量延迟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工具报告 + 运行性能日志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研究难点与可能创新：聚焦可检验的贡献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预期贡献需通过实验和反例分析支持；当前仅提出研究假设。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830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关键难点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可能的创新点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验证方式</a:t>
                      </a:r>
                    </a:p>
                  </a:txBody>
                  <a:tcPr marL="109728" marT="91440">
                    <a:solidFill>
                      <a:srgbClr val="152D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自然语言到符号状态存在误差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置信度感知的状态映射与保守回退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状态识别误差与端到端违规分析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临床规则冲突且具有例外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专家可审查的分层规约与冲突检测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专家一致性与冲突案例覆盖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长对话状态空间膨胀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风险导向抽象与反例驱动精化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状态规模、验证时间与伪反例率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离线模型与实际行为偏离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同源规约生成监控器并追踪偏差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2D49"/>
                          </a:solidFill>
                          <a:latin typeface="Noto Sans CJK SC"/>
                        </a:defRPr>
                      </a:pPr>
                      <a:r>
                        <a:t>轨迹一致性与消融对比</a:t>
                      </a:r>
                    </a:p>
                  </a:txBody>
                  <a:tcPr marL="109728" marT="91440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</a:defRPr>
            </a:pPr>
            <a:r>
              <a:t>可信医疗 · 安全协议 · 形式化方法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52D49"/>
                </a:solidFill>
                <a:latin typeface="Noto Sans CJK SC"/>
              </a:defRPr>
            </a:pPr>
            <a:r>
              <a:t>总结与未来工作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>
            <a:solidFill>
              <a:srgbClr val="E6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</a:defRPr>
            </a:pPr>
            <a:r>
              <a:t>可信验证的目标：让安全要求可检查，让执行偏差可发现，让证据链可追溯。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6B7E"/>
                </a:solidFill>
                <a:latin typeface="Noto Sans CJK SC"/>
              </a:defRPr>
            </a:pPr>
            <a:r>
              <a:t>研究方案汇报｜示例用于方法说明，不作为临床诊疗建议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B6B7E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4747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01  规则共建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40864"/>
            <a:ext cx="3108960" cy="61264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选择问诊与分诊场景</a:t>
            </a:r>
          </a:p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专家定义风险与约束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4747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847088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02  最小原型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40864"/>
            <a:ext cx="3108960" cy="61264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验证协议与超时分支</a:t>
            </a:r>
          </a:p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接入工具前置网关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4747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03  实证研究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40864"/>
            <a:ext cx="3108960" cy="612648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对照与消融实验</a:t>
            </a:r>
          </a:p>
          <a:p>
            <a:pPr>
              <a:spcAft>
                <a:spcPts val="800"/>
              </a:spcAft>
              <a:defRPr sz="1600" b="0">
                <a:solidFill>
                  <a:srgbClr val="152D49"/>
                </a:solidFill>
                <a:latin typeface="Noto Sans CJK SC"/>
              </a:defRPr>
            </a:pPr>
            <a:r>
              <a:t>检验收益、代价与边界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82696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B6B7E"/>
                </a:solidFill>
                <a:latin typeface="Noto Sans CJK SC"/>
              </a:defRPr>
            </a:pPr>
            <a:r>
              <a:t>代表性参考文献（完整信息与链接见本页备注）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30752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3"/>
              </a:rPr>
              <a:t>[1] Singhal et al. Nature, 2023.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30752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4"/>
              </a:rPr>
              <a:t>[2] Tu et al. AMIE, 2024.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4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5"/>
              </a:rPr>
              <a:t>[3] Tang et al. MedAgents, 2023.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69664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6"/>
              </a:rPr>
              <a:t>[4] Schmidgall et al. AgentClinic, 2024.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08576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7"/>
              </a:rPr>
              <a:t>[5] Holzmann. SPIN, 1997.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608576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8"/>
              </a:rPr>
              <a:t>[6] Alur &amp; Dill. Timed automata, 1994.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5394960" cy="365760"/>
          </a:xfrm>
          <a:prstGeom prst="rect">
            <a:avLst/>
          </a:prstGeom>
          <a:noFill/>
        </p:spPr>
        <p:txBody>
          <a:bodyPr wrap="square" lIns="27432" rIns="27432" tIns="27432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B7E"/>
                </a:solidFill>
                <a:latin typeface="Noto Sans CJK SC"/>
              </a:defRPr>
            </a:pPr>
            <a:r>
              <a:rPr>
                <a:hlinkClick r:id="rId9"/>
              </a:rPr>
              <a:t>[7] Behrmann et al. UPPAAL tutorial, 2004.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